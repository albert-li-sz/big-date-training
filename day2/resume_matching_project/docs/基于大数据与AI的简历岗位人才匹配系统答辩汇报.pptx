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15dc1f7486468d" /><Relationship Type="http://schemas.openxmlformats.org/officeDocument/2006/relationships/extended-properties" Target="/docProps/app.xml" Id="R69dd92fbe19249a4" /><Relationship Type="http://schemas.openxmlformats.org/officeDocument/2006/relationships/officeDocument" Target="/ppt/presentation.xml" Id="Rbc257d9a11b4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df423ca5f43b0"/>
  </p:sldMasterIdLst>
  <p:notesMasterIdLst>
    <p:notesMasterId xmlns:r="http://schemas.openxmlformats.org/officeDocument/2006/relationships" r:id="Re8d477c404604112"/>
  </p:notesMasterIdLst>
  <p:sldIdLst>
    <p:sldId xmlns:r="http://schemas.openxmlformats.org/officeDocument/2006/relationships" id="256" r:id="R5b88a27bcf6b4fa3"/>
    <p:sldId xmlns:r="http://schemas.openxmlformats.org/officeDocument/2006/relationships" id="257" r:id="Re33d3548d2e64717"/>
    <p:sldId xmlns:r="http://schemas.openxmlformats.org/officeDocument/2006/relationships" id="258" r:id="Rf726fba455c04925"/>
    <p:sldId xmlns:r="http://schemas.openxmlformats.org/officeDocument/2006/relationships" id="259" r:id="Rd4bb241edb144a0e"/>
    <p:sldId xmlns:r="http://schemas.openxmlformats.org/officeDocument/2006/relationships" id="260" r:id="Ref384b13e0e9432a"/>
    <p:sldId xmlns:r="http://schemas.openxmlformats.org/officeDocument/2006/relationships" id="261" r:id="R9e124db44ee24591"/>
    <p:sldId xmlns:r="http://schemas.openxmlformats.org/officeDocument/2006/relationships" id="262" r:id="R5c3c876e9eed449a"/>
    <p:sldId xmlns:r="http://schemas.openxmlformats.org/officeDocument/2006/relationships" id="263" r:id="Re9db38e5d5de468f"/>
    <p:sldId xmlns:r="http://schemas.openxmlformats.org/officeDocument/2006/relationships" id="264" r:id="R7a8b166fdf5c44d6"/>
    <p:sldId xmlns:r="http://schemas.openxmlformats.org/officeDocument/2006/relationships" id="265" r:id="Rb1a515055c21448a"/>
    <p:sldId xmlns:r="http://schemas.openxmlformats.org/officeDocument/2006/relationships" id="266" r:id="R2d1a2bbcbe8b483a"/>
    <p:sldId xmlns:r="http://schemas.openxmlformats.org/officeDocument/2006/relationships" id="267" r:id="R6b0e2e42d85640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d708385c564af6" /><Relationship Type="http://schemas.openxmlformats.org/officeDocument/2006/relationships/slideMaster" Target="/ppt/slideMasters/slideMaster1.xml" Id="R6efdf423ca5f43b0" /><Relationship Type="http://schemas.openxmlformats.org/officeDocument/2006/relationships/notesMaster" Target="/ppt/notesMasters/notesMaster1.xml" Id="Re8d477c404604112" /><Relationship Type="http://schemas.openxmlformats.org/officeDocument/2006/relationships/presProps" Target="/ppt/presProps.xml" Id="Rb5b950c2ca934e2d" /><Relationship Type="http://schemas.openxmlformats.org/officeDocument/2006/relationships/tableStyles" Target="/ppt/tableStyles.xml" Id="Re9a8ce151cf94c75" /><Relationship Type="http://schemas.openxmlformats.org/officeDocument/2006/relationships/slide" Target="/ppt/slides/slide1.xml" Id="R5b88a27bcf6b4fa3" /><Relationship Type="http://schemas.openxmlformats.org/officeDocument/2006/relationships/slide" Target="/ppt/slides/slide2.xml" Id="Re33d3548d2e64717" /><Relationship Type="http://schemas.openxmlformats.org/officeDocument/2006/relationships/slide" Target="/ppt/slides/slide3.xml" Id="Rf726fba455c04925" /><Relationship Type="http://schemas.openxmlformats.org/officeDocument/2006/relationships/slide" Target="/ppt/slides/slide4.xml" Id="Rd4bb241edb144a0e" /><Relationship Type="http://schemas.openxmlformats.org/officeDocument/2006/relationships/slide" Target="/ppt/slides/slide5.xml" Id="Ref384b13e0e9432a" /><Relationship Type="http://schemas.openxmlformats.org/officeDocument/2006/relationships/slide" Target="/ppt/slides/slide6.xml" Id="R9e124db44ee24591" /><Relationship Type="http://schemas.openxmlformats.org/officeDocument/2006/relationships/slide" Target="/ppt/slides/slide7.xml" Id="R5c3c876e9eed449a" /><Relationship Type="http://schemas.openxmlformats.org/officeDocument/2006/relationships/slide" Target="/ppt/slides/slide8.xml" Id="Re9db38e5d5de468f" /><Relationship Type="http://schemas.openxmlformats.org/officeDocument/2006/relationships/slide" Target="/ppt/slides/slide9.xml" Id="R7a8b166fdf5c44d6" /><Relationship Type="http://schemas.openxmlformats.org/officeDocument/2006/relationships/slide" Target="/ppt/slides/slide10.xml" Id="Rb1a515055c21448a" /><Relationship Type="http://schemas.openxmlformats.org/officeDocument/2006/relationships/slide" Target="/ppt/slides/slide11.xml" Id="R2d1a2bbcbe8b483a" /><Relationship Type="http://schemas.openxmlformats.org/officeDocument/2006/relationships/slide" Target="/ppt/slides/slide12.xml" Id="R6b0e2e42d85640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f731367b64f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181397807443a0" /><Relationship Type="http://schemas.openxmlformats.org/officeDocument/2006/relationships/notesMaster" Target="/ppt/notesMasters/notesMaster1.xml" Id="R004e95bd230d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5c1a4510147bf" /><Relationship Type="http://schemas.openxmlformats.org/officeDocument/2006/relationships/notesMaster" Target="/ppt/notesMasters/notesMaster1.xml" Id="Re7f0d292aa4c41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108a46fea44d96" /><Relationship Type="http://schemas.openxmlformats.org/officeDocument/2006/relationships/notesMaster" Target="/ppt/notesMasters/notesMaster1.xml" Id="R335ff464cee14a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8a8c2b8b764ee7" /><Relationship Type="http://schemas.openxmlformats.org/officeDocument/2006/relationships/notesMaster" Target="/ppt/notesMasters/notesMaster1.xml" Id="Re8afd1d6097142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42195230b4fb1" /><Relationship Type="http://schemas.openxmlformats.org/officeDocument/2006/relationships/notesMaster" Target="/ppt/notesMasters/notesMaster1.xml" Id="R22d7ccd7280e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fea0c8b1d4f81" /><Relationship Type="http://schemas.openxmlformats.org/officeDocument/2006/relationships/notesMaster" Target="/ppt/notesMasters/notesMaster1.xml" Id="R3c7251e997914d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47714d8e2f4c2f" /><Relationship Type="http://schemas.openxmlformats.org/officeDocument/2006/relationships/notesMaster" Target="/ppt/notesMasters/notesMaster1.xml" Id="Rf84885f3018d46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3375ba05434e25" /><Relationship Type="http://schemas.openxmlformats.org/officeDocument/2006/relationships/notesMaster" Target="/ppt/notesMasters/notesMaster1.xml" Id="R7f732753f24c40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cde3eb5515433e" /><Relationship Type="http://schemas.openxmlformats.org/officeDocument/2006/relationships/notesMaster" Target="/ppt/notesMasters/notesMaster1.xml" Id="R392fd036e19745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57d34292b94814" /><Relationship Type="http://schemas.openxmlformats.org/officeDocument/2006/relationships/notesMaster" Target="/ppt/notesMasters/notesMaster1.xml" Id="R545673a30ffe43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b054f6814540b2" /><Relationship Type="http://schemas.openxmlformats.org/officeDocument/2006/relationships/notesMaster" Target="/ppt/notesMasters/notesMaster1.xml" Id="Rb040249902ab46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f19f9ce2e440ca" /><Relationship Type="http://schemas.openxmlformats.org/officeDocument/2006/relationships/notesMaster" Target="/ppt/notesMasters/notesMaster1.xml" Id="Redcedde0ac15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来源：学生项目任务书《基于大数据+AI的简历-岗位人才匹配系统》；封面界面概念图由本项目生成，用于视觉方向展示。</a:t>
            </a:r>
          </a:p>
          <a:p xmlns:a="http://schemas.openxmlformats.org/drawingml/2006/main">
            <a:r>
              <a:t>开场：本项目已在课程 Docker 镜像内完成端到端实测。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来源：学生项目任务书第 1—4 页的项目背景、目标与最小功能要求。</a:t>
            </a:r>
          </a:p>
          <a:p xmlns:a="http://schemas.openxmlformats.org/drawingml/2006/main">
            <a:r>
              <a:t>讲解重点：同一份评分矩阵同时服务学生找岗位和岗位找人才两个视角。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来源：任务书的大数据环境要求；本地 day1/hadoop-spark-docker 的 Dockerfile、compose.yaml；day2 项目源码。</a:t>
            </a:r>
          </a:p>
          <a:p xmlns:a="http://schemas.openxmlformats.org/drawingml/2006/main">
            <a:r>
              <a:t>说明：本地 pandas/gensim 与 HDFS/PySpark 两条链路共享预处理口径和输出字段。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来源：任务书第 5—10 页的数据要求；项目 data/resumes.csv 与 data/jobs.csv。</a:t>
            </a:r>
          </a:p>
          <a:p xmlns:a="http://schemas.openxmlformats.org/drawingml/2006/main">
            <a:r>
              <a:t>可编辑证据：本页数据契约为 PowerPoint 原生表格。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来源：文本匹配小案例一（jieba 分词、停用词、技能词标准化）与 day2/src/preprocess.py。</a:t>
            </a:r>
          </a:p>
          <a:p xmlns:a="http://schemas.openxmlformats.org/drawingml/2006/main">
            <a:r>
              <a:t>边界：当前别名词典适合课程可控数据，生产环境需加入词边界、版本管理与人工审核。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来源：文本匹配小案例二、三、四；项目 src/similarity.py 与 src/scoring.py。</a:t>
            </a:r>
          </a:p>
          <a:p xmlns:a="http://schemas.openxmlformats.org/drawingml/2006/main">
            <a:r>
              <a:t>可编辑证据：权重图为 PowerPoint 原生图表，数据来自项目实际配置。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 output/top_matches.csv 中 R001 的真实 Top 1 结果；文本匹配小案例四的可解释匹配要求。</a:t>
            </a:r>
          </a:p>
          <a:p xmlns:a="http://schemas.openxmlformats.org/drawingml/2006/main">
            <a:r>
              <a:t>说明：硬条件为学历、经验、城市和证书的组合概括；薪资诊断在完整结果中单独保留。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来源：任务书的大数据实现要求；day2/src/spark_job.py；本地 HDFS 9870 实测截图。</a:t>
            </a:r>
          </a:p>
          <a:p xmlns:a="http://schemas.openxmlformats.org/drawingml/2006/main">
            <a:r>
              <a:t>实测：五个 Hadoop/YARN 核心进程均正常，MLlib Word2Vec 特征写入 Parquet。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 Streamlit 8888 端口实测截图。</a:t>
            </a:r>
          </a:p>
          <a:p xmlns:a="http://schemas.openxmlformats.org/drawingml/2006/main">
            <a:r>
              <a:t>浏览器验证：桌面 1440×1000 与移动 390×844；学生与岗位两种视图可切换，控制台未发现 error 或 warn。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 output/full_matches.csv，2026-09-08 本地运行结果。</a:t>
            </a:r>
          </a:p>
          <a:p xmlns:a="http://schemas.openxmlformats.org/drawingml/2006/main">
            <a:r>
              <a:t>可编辑证据：本页为 PowerPoint 原生条形图。提醒：样例数据按方向设计，因此这些结果不等同于真实招聘准确率。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来源：本地测试日志、jps、HDFS 9870、YARN 8088、Spark 4040 与 Streamlit 8888 的实测。</a:t>
            </a:r>
          </a:p>
          <a:p xmlns:a="http://schemas.openxmlformats.org/drawingml/2006/main">
            <a:r>
              <a:t>可编辑证据：验收清单为 PowerPoint 原生表格。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来源：项目实测结论、报告中的局限与改进方向。</a:t>
            </a:r>
          </a:p>
          <a:p xmlns:a="http://schemas.openxmlformats.org/drawingml/2006/main">
            <a:r>
              <a:t>收束：当前版本适合教学演示；进入真实招聘场景前必须完成标签评估、公平性、隐私与合规治理。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5d161104048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a0c37cde464dce" /><Relationship Type="http://schemas.openxmlformats.org/officeDocument/2006/relationships/slideLayout" Target="/ppt/slideLayouts/slideLayout1.xml" Id="R4fbba891544042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bba891544042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7d7d2e33d47f5" /><Relationship Type="http://schemas.openxmlformats.org/officeDocument/2006/relationships/image" Target="/ppt/media/image.png" Id="R16a0c84a1fdf4cf1" /><Relationship Type="http://schemas.openxmlformats.org/officeDocument/2006/relationships/notesSlide" Target="/ppt/notesSlides/notesSlide1.xml" Id="R9077bd8d44c0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40f074dc14019" /><Relationship Type="http://schemas.openxmlformats.org/officeDocument/2006/relationships/notesSlide" Target="/ppt/notesSlides/notesSlide2.xml" Id="R7c42ffeead2149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f2fa42a7d4e5e" /><Relationship Type="http://schemas.openxmlformats.org/officeDocument/2006/relationships/notesSlide" Target="/ppt/notesSlides/notesSlide3.xml" Id="R26dfa3d8e53d4f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002d5f83a40f9" /><Relationship Type="http://schemas.openxmlformats.org/officeDocument/2006/relationships/notesSlide" Target="/ppt/notesSlides/notesSlide4.xml" Id="Rda0cf4d9e8b348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186bdb4f54bb7" /><Relationship Type="http://schemas.openxmlformats.org/officeDocument/2006/relationships/notesSlide" Target="/ppt/notesSlides/notesSlide5.xml" Id="R7671e7f1fba8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90803e52249de" /><Relationship Type="http://schemas.openxmlformats.org/officeDocument/2006/relationships/chart" Target="/ppt/slides/charts/chart1.xml" Id="R04ac771e3f2a4877" /><Relationship Type="http://schemas.openxmlformats.org/officeDocument/2006/relationships/notesSlide" Target="/ppt/notesSlides/notesSlide6.xml" Id="Raa0dab224cf84c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467a3818f4d32" /><Relationship Type="http://schemas.openxmlformats.org/officeDocument/2006/relationships/notesSlide" Target="/ppt/notesSlides/notesSlide7.xml" Id="R1148074f4a8f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fa153ed94642" /><Relationship Type="http://schemas.openxmlformats.org/officeDocument/2006/relationships/image" Target="/ppt/media/image2.png" Id="Re3fd1cafb9454680" /><Relationship Type="http://schemas.openxmlformats.org/officeDocument/2006/relationships/notesSlide" Target="/ppt/notesSlides/notesSlide8.xml" Id="R885e912cbf154a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535e9c0994f65" /><Relationship Type="http://schemas.openxmlformats.org/officeDocument/2006/relationships/image" Target="/ppt/media/image3.png" Id="R0bef09e5b14e474d" /><Relationship Type="http://schemas.openxmlformats.org/officeDocument/2006/relationships/image" Target="/ppt/media/image4.png" Id="R74f868ddc67545d5" /><Relationship Type="http://schemas.openxmlformats.org/officeDocument/2006/relationships/image" Target="/ppt/media/image5.png" Id="R50abe197119a4b78" /><Relationship Type="http://schemas.openxmlformats.org/officeDocument/2006/relationships/notesSlide" Target="/ppt/notesSlides/notesSlide9.xml" Id="R986ef2eba2844d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279403fe94a50" /><Relationship Type="http://schemas.openxmlformats.org/officeDocument/2006/relationships/chart" Target="/ppt/slides/charts/chart2.xml" Id="R5429bae964434c46" /><Relationship Type="http://schemas.openxmlformats.org/officeDocument/2006/relationships/notesSlide" Target="/ppt/notesSlides/notesSlide10.xml" Id="R671891e597d649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48ddc7ee24602" /><Relationship Type="http://schemas.openxmlformats.org/officeDocument/2006/relationships/image" Target="/ppt/media/image6.png" Id="R7e7f02c5b1044cc8" /><Relationship Type="http://schemas.openxmlformats.org/officeDocument/2006/relationships/notesSlide" Target="/ppt/notesSlides/notesSlide11.xml" Id="R2ba1c5953f764e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4537accd4fba" /><Relationship Type="http://schemas.openxmlformats.org/officeDocument/2006/relationships/notesSlide" Target="/ppt/notesSlides/notesSlide12.xml" Id="Ra742401c86a641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七维总分权重（%）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0B2345"/>
              </a:solidFill>
              <a:latin typeface="Arial Unicode MS"/>
              <a:ea typeface="Arial Unicode MS"/>
              <a:cs typeface="Arial Unicode M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权重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D4ED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F7FF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6AA9C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98717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E6A74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F1C87B"/>
              </a:solidFill>
            </c:spPr>
          </c:dPt>
          <c:cat>
            <c:strRef>
              <c:f>'Chart Data'!$A$2:$A$8</c:f>
              <c:strCache>
                <c:ptCount val="7"/>
                <c:pt idx="0">
                  <c:v>技能覆盖</c:v>
                </c:pt>
                <c:pt idx="1">
                  <c:v>TF-IDF</c:v>
                </c:pt>
                <c:pt idx="2">
                  <c:v>Word2Vec</c:v>
                </c:pt>
                <c:pt idx="3">
                  <c:v>学历</c:v>
                </c:pt>
                <c:pt idx="4">
                  <c:v>经验</c:v>
                </c:pt>
                <c:pt idx="5">
                  <c:v>城市</c:v>
                </c:pt>
                <c:pt idx="6">
                  <c:v>证书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2345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各简历 Top 1 综合分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0B2345"/>
              </a:solidFill>
              <a:latin typeface="Arial Unicode MS"/>
              <a:ea typeface="Arial Unicode MS"/>
              <a:cs typeface="Arial Unicode M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综合分</c:v>
          </c:tx>
          <c:spPr>
            <a:solidFill xmlns:a="http://schemas.openxmlformats.org/drawingml/2006/main">
              <a:srgbClr val="2563E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D98717"/>
              </a:solidFill>
            </c:spPr>
          </c:dPt>
          <c:cat>
            <c:strRef>
              <c:f>'Chart Data'!$A$2:$A$13</c:f>
              <c:strCache>
                <c:ptCount val="12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</c:strCache>
            </c:strRef>
          </c:cat>
          <c:val>
            <c:numRef>
              <c:f>'Chart Data'!$B$2:$B$13</c:f>
              <c:numCache>
                <c:formatCode>0.00</c:formatCode>
                <c:ptCount val="12"/>
                <c:pt idx="0">
                  <c:v>67.4</c:v>
                </c:pt>
                <c:pt idx="1">
                  <c:v>90.56</c:v>
                </c:pt>
                <c:pt idx="2">
                  <c:v>71.89</c:v>
                </c:pt>
                <c:pt idx="3">
                  <c:v>90.44</c:v>
                </c:pt>
                <c:pt idx="4">
                  <c:v>75.53</c:v>
                </c:pt>
                <c:pt idx="5">
                  <c:v>84.07</c:v>
                </c:pt>
                <c:pt idx="6">
                  <c:v>88.47</c:v>
                </c:pt>
                <c:pt idx="7">
                  <c:v>89.15</c:v>
                </c:pt>
                <c:pt idx="8">
                  <c:v>77.38</c:v>
                </c:pt>
                <c:pt idx="9">
                  <c:v>73.3</c:v>
                </c:pt>
                <c:pt idx="10">
                  <c:v>74.47</c:v>
                </c:pt>
                <c:pt idx="11">
                  <c:v>87.17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B2345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7D5C6-0666-4E70-82AC-26CCB5FC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CE05D-C2FB-4814-BE6C-25BF6143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E"/>
          </a:solidFill>
          <a:ln xmlns:a="http://schemas.openxmlformats.org/drawingml/2006/main" w="9525">
            <a:solidFill>
              <a:srgbClr val="2C559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76253-FFC2-4FCC-A8B3-4DD10E63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CE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DCEAFF"/>
                </a:solidFill>
                <a:latin typeface="Arial Unicode MS"/>
                <a:ea typeface="Arial Unicode MS"/>
                <a:cs typeface="Arial Unicode MS"/>
              </a:rPr>
              <a:t>大数据 + AI 课程项目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5B9BA-5EF1-401C-AC33-2A72DF36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3695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简历—岗位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人才匹配系统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61C4E-D963-48A5-8268-37A6DE5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524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融合 jieba、TF-IDF、Word2Vec 与七维规则评分，提供双向 Top N 推荐及可解释依据。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F8DA7-27BB-481D-9E96-5F24D30B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638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3562"/>
          </a:solidFill>
          <a:ln xmlns:a="http://schemas.openxmlformats.org/drawingml/2006/main" w="9525">
            <a:solidFill>
              <a:srgbClr val="2C55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BA7B1-5645-444E-9BB1-B77857CA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rPr>
              <a:t>实测数据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F817-3586-45FA-BB79-E8C04E2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 ×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45E01-B74D-41AC-9E6C-1EEC62A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95825"/>
            <a:ext cx="1638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3562"/>
          </a:solidFill>
          <a:ln xmlns:a="http://schemas.openxmlformats.org/drawingml/2006/main" w="9525">
            <a:solidFill>
              <a:srgbClr val="2C55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031C6-B861-42FE-9FB9-D1ACDDE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rPr>
              <a:t>全量配对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2DC87-43A6-4EE7-A2CB-5133D4DA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18D8B-4749-4248-AEE1-11924C8D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28650"/>
            <a:ext cx="61150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0c84a1fdf4cf1"/>
          <a:srcRect xmlns:a="http://schemas.openxmlformats.org/drawingml/2006/main" l="9239" t="0" r="9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666750"/>
            <a:ext cx="6038850" cy="514350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27039-CAE9-4140-BEC8-3C3C43FD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000750"/>
            <a:ext cx="603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本地 Docker 实测版 · 2026.09</a:t>
            </a:r>
          </a:p>
        </p:txBody>
      </p:sp>
    </p:spTree>
    <p:extLst>
      <p:ext uri="{BB962C8B-B14F-4D97-AF65-F5344CB8AC3E}">
        <p14:creationId xmlns:p14="http://schemas.microsoft.com/office/powerpoint/2010/main" val="1208608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E8E134-6597-44F4-916C-217E0C1A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01 / 业务问题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D3FF9-83D6-4ABB-8E08-62111B01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一套系统，同时回答两类匹配问题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28D6A-145F-4B4D-B392-B359B56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04DC7-D52E-42CC-B216-0F644EB7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53265-AC4D-4ED4-B03C-6BED9815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从“关键词是否出现”升级为“结构化条件 + 语义相关 + 可解释排序”。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898D-8EC3-496C-B997-B99EA652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1432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0973E-8796-4A7C-A4EF-F09C381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68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学生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A85B-200F-47A2-9E8A-A6EE455C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我适合什么岗位？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27A1C-4A0C-457E-AC20-369F3D7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8E56C-6AEA-44DF-8BF8-030CD1D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查看 Top N 岗位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理解匹配与缺口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获得技能提升建议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882FC-288D-49DA-92E6-6D369E65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1432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0F1EC-73BB-4D7C-BAD5-00515433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68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匹配引擎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7D703-9E0D-42AD-A9E7-0A8C0E30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432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为什么这样排序？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BA062-9402-410C-BFCE-1450C82E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57575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EAEB3-7516-415B-82C9-90505723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文本标准化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双语义相似度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七维规则与解释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D0BEB-9244-402C-B656-5DAE41D1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43125"/>
            <a:ext cx="31432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F742A-01CF-4134-A9E0-894B39F6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68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招聘方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DD95A-D1A2-4870-9EFB-47728C99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432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谁更适合岗位？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A29E5-8177-4302-BD85-9909E5D3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57575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71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3A276-9896-43EB-8A15-40C8C1AC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查看 Top N 候选人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比较硬性条件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保留人工复核依据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E10C5-46C6-4860-9416-8667BFF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4327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C3E44-0B7E-4FE3-92B8-883686A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B0BA5-3083-43E1-A3F1-D9D8E18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05FF5-A6DD-4DA1-B1C7-6218429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8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双向 Top 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4FD73-B3B0-47A5-A617-34BCBC04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768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A1DE7-D119-4B9E-807B-D96C12C8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8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可解释推荐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69124-7916-4E58-9229-1A3CACCB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768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1F2C1-6139-4523-8F4E-08E271F5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8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公平与复核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89F4A-3B39-4E92-87D3-EA5558C6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01011-5462-440D-9E7B-1085092E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F3480-FAA1-43B9-87E1-7B9AE0DC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970139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AFFD8E-8CDA-4749-9E01-848FA938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02 / 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7E350-E0F2-4796-84AF-7F42CBBB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本地算法与大数据链路共用一套数据语义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99121-913F-440B-8CD5-93356EC7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1B93F-0029-4BF1-B95A-FBB5A39E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FD991-A160-4270-81B3-11226F9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57019-6DBF-4522-A8D0-65A5BCF6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数据层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E3858-56F4-4B56-8FD4-407AF904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8595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095AC-249A-47D4-8C58-33C3B650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52625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resumes.csv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71754-964B-4233-A9B5-3A1CA273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28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5F3FB-6A62-4E94-BC9B-D866583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8595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28E5C-65C5-4A57-80C5-3AE82A6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952625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jobs.csv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2C3C8-4CB5-4C8C-B189-971D5C0C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28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B8505-6A9B-4B4E-B699-E103339B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69C99-7B01-4D3B-8C90-33EE73A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停用词 / 技能别名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8708B-58A4-4F76-8519-15D0E0D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F7F3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4E1B0-910A-418F-A651-7F5F1BC0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计算层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80EB2-8771-45CA-93E4-3F737C4A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CECA9-52F6-4476-99F6-A6AD1A9F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528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jieba 预处理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4CA62-A7FC-487B-A290-BBFCEAAC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29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59552-207E-4950-B9CE-DCC61EB0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8612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83514-F10F-44C8-A27E-DFF91DB9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3528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TF-IDF + Word2Vec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7E332-72A9-400F-8B46-FB76D1BA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78202-0D33-4220-A961-7D0570C6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C7DDF4-52E7-4CE9-9594-EA713ED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七维评分 / 双向排名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D1BBB-302A-4F08-9253-C832124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3A35E-9455-4935-A6F4-30886B71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交付层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07A03-38E4-4DE5-93B0-5FD18D1C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B4A9D-E7E5-40E6-ABC5-DF8B925D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52975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HDFS / Parquet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9842C-C5AA-4070-80EE-C8BEDF25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291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C495B-3012-47C8-BE81-F86B5481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8630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CFDED-C4FE-4C86-ACE5-1F16D13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752975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3 份结果 CSV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E513C-09F9-427B-97CC-845E325A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291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6B9007-5388-4206-B540-8447763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08FC6A-D319-4E79-9570-5983C62B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52975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Streamlit / 下载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4C921E-F1FE-401A-A246-17B6508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Docker Compose · Ubuntu 24.04 · Hadoop 3.3.6 · Spark 3.5.1 · Python 3.12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8F00A-F0F0-4988-985B-47D48DC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0F40A6-61CB-42BA-925A-B4463C4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D550B3-1628-4729-A7A4-6337AEAB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883331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31181-F6DD-4699-82BC-9516C788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03 / 数据设计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46411-E34A-4598-9041-410627F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12 份简历、12 个岗位，字段可审阅且可扩展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B018-3168-4E32-A0DE-C45F777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7B42D-CBB3-49A7-9D36-0F42A46D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5A227-A732-4CDA-9DFE-86DEB03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核心数据契约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78105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3143250"/>
                <a:gridCol w="3238500"/>
              </a:tblGrid>
              <a:tr h="533400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实体</a:t>
                      </a:r>
                    </a:p>
                  </a:txBody>
                  <a:tcPr marL="91440" marR="91440" marT="45720" marB="45720" anchor="ctr">
                    <a:solidFill>
                      <a:srgbClr val="123562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关键字段</a:t>
                      </a:r>
                    </a:p>
                  </a:txBody>
                  <a:tcPr marL="91440" marR="91440" marT="45720" marB="45720" anchor="ctr">
                    <a:solidFill>
                      <a:srgbClr val="123562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质量控制</a:t>
                      </a:r>
                    </a:p>
                  </a:txBody>
                  <a:tcPr marL="91440" marR="91440" marT="45720" marB="45720" anchor="ctr">
                    <a:solidFill>
                      <a:srgbClr val="123562"/>
                    </a:solidFill>
                  </a:tcPr>
                </a:tc>
              </a:tr>
              <a:tr h="533400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简历标识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resume_id / 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必填、按 ID 去重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简历条件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education / major / experience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年限非负、空值补齐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</a:tr>
              <a:tr h="533400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简历文本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skills / project / self_description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分号拆分、UTF-8-SIG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岗位标识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job_id / title / company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必填、按 ID 去重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</a:tr>
              <a:tr h="533400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岗位条件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education / experience / city / salary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类型转换、保留诊断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岗位文本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required_skills / description / certificates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结构化技能优先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293C7-6A28-4EBF-BBE0-2B47C173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362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8437D-7A47-4960-A812-4E1163A6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24075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简历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051F9-A89E-4902-AA07-93CA2C11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98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95A7F-4879-42FF-826C-152675AA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362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46DB5-0A73-4357-81AF-1796A797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43275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岗位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9CFC6-4977-4C05-892C-9039B37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6DB6E-6AED-4874-A42D-EA651E1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2362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9D528-7100-4014-A200-808D7CF9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62475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全量组合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B71B1-2F1C-47C4-A380-750EA46F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482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144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E96A5-ADE2-4415-BD58-FC77F660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3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样例覆盖大数据、Java、云运维、NLP、CV、前端、数据分析与数据仓库等方向。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94586-567D-4BFE-AA7E-6320338A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07FF1-C744-4126-80FA-26B9FE7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77D48-7F91-474C-8AAB-B28F3615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827902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57C000-5BF7-4D83-A34C-E16A547F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04 / 文本预处理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74CF0-CB28-4AD7-9656-5BE14C12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先把写法统一，再让模型比较语义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D2242-2956-40B3-B9FF-1170B29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1DAA2-A259-4689-B9D1-581E1483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34A86-0232-4DAA-8A28-9E76C71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原始输入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37461-8FEF-42CF-8BF5-4D4647E9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43B49-D47B-4808-AF04-5A4F80D9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“熟悉 PySpark、Spark SQL；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使用 Power BI 做看板；了解 K8s”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6E44E-00B1-4819-9D9D-407D8F40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384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FA5ED-0A13-427C-AFE4-12E9A7CE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09750"/>
            <a:ext cx="6781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CD0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C6E01-C3F5-430D-967A-CB57C6A6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19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标准化输出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40997-4A01-49EC-9522-446B6F89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0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04F05-53C0-47F2-A0B9-DD7CE14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431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spark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16768-A40D-41AA-9F42-325AAFB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0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00E2B-3920-40EE-9E0A-74AE6586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2450F-46BC-48EC-9427-2D826D96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0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566AA-6271-471B-B6FE-C3E2C55C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431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powerbi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439EC-2206-4CE7-A28C-B66100B2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0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33956-A1B5-46F3-9233-A30EEF5A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431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kubernetes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3831D-1CF0-48F0-A21A-427A0DAC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00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73A77-354F-4E24-809C-1EE9D910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89122-593B-470A-8495-D624DB60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2B762-9CE2-4DC1-9C70-0E0E8E8B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拆分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71EBA-1834-4341-BA63-986124D8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中英文分隔符与字段清洗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77C9E-0871-45DD-884F-B8D3DB1D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2400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4D1AA-86BC-4872-93E5-6872D49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A9FB3F-9687-41D7-998A-FCB35E79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05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05AB9-9D09-4DA9-8506-20834C84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05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归一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CCF96-308F-4840-B825-AB322648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4347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技能别名与大小写统一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4F6482-DF43-4E21-A502-F045BDC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2400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03C443-91BB-4700-9C76-3106FA05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536AC-0B5F-47E5-90BD-EA080B2F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05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318230-6EC2-4F21-8D22-7752FD8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分词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ECA655-26CC-40DA-9174-81363DB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4347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jieba 精确模式保留技术词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6C105-883F-488C-A921-E3E9F523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2400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E9E7CF-01B5-4A56-9C14-74C073A7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4A4494-EEEA-4E63-B819-3B52647B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05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4ED356-1DD3-41A8-9813-B80B7ACF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过滤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95331-C713-4BA8-ADBC-A6D3DED2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4347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停用词、标点与无意义单字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46B932-034F-4C99-AC85-BF2557C0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结构化技能在匹配文本中重复一次，让可靠字段比一般描述拥有更高影响。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D443A0-1F57-4606-8F3F-454BBC1D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9EB6C8-C158-440D-97BE-CE733A9E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93144B-5D47-4264-A550-886B009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780369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E6802-8433-432B-BD84-D5140F2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05 / 混合评分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E8F8B-5198-4637-9A6C-E9C934F6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语义负责“像不像”，规则负责“能不能”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D975C-D089-49B3-BC3E-14F4C5C1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7DD71-07F9-4E69-A4C6-A508BE7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ac771e3f2a487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30A83-3BA5-4AFA-90F6-2A7DE958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52600"/>
            <a:ext cx="38671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B234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272B9-4E49-4718-B96B-4DD7421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rPr>
              <a:t>综合分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916C5-1E74-49D4-8BAA-29E5DBF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0.30×技能 + 0.20×TF-IDF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+ 0.15×Word2Vec + 其余规则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67B86-2896-486A-AC2D-31A38A62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52775"/>
            <a:ext cx="38671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9DC3E-E2C8-4BCF-991B-014F890A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关键词证据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EF034-50E2-4B9B-A80B-CE7C389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240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TF-IDF 保留技能与短语重合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C21A1-0588-4707-BE12-FBEAF76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52875"/>
            <a:ext cx="38671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4C66F-4957-42BC-8D6A-729AE363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语义证据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76D3D-F4A5-4C97-A076-86C63BF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57650"/>
            <a:ext cx="240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Word2Vec 补充表达相近关系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28F2C-3AC9-4901-9624-E4258914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8671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8131C-DBB0-43E0-AB5E-26C1BE4C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规则证据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BDF94-C316-48F8-AE5F-2B8C192D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40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学历、经验、城市、证书控制硬条件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64FF3-67DE-4525-AEEE-93A9C856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070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B93B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93B3B"/>
                </a:solidFill>
                <a:latin typeface="Arial Unicode MS"/>
                <a:ea typeface="Arial Unicode MS"/>
                <a:cs typeface="Arial Unicode MS"/>
              </a:rPr>
              <a:t>薪资作为独立诊断展示，不进入默认总分。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A9FCA-E446-4951-98B5-2A90D7C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B8DB2-F89B-4C1F-90D0-1398C0ED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FAD23-6B5B-40D0-B59D-0CA27614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918340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587210-222B-44EB-9ED5-AE2F6D78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06 / 可解释匹配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6823E-9F5F-42DC-82F2-BC23EE74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总分之外，必须告诉用户“为什么”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882CD-1285-4612-B524-D7AD79C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9B704-3F12-4EF0-B5BE-698BD2F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FA37-3686-428C-94EE-4F6DA73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D0B68-0F9E-42AC-B59A-9D5BE06D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532C8-14A6-4DA5-8274-1790E9CC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候选人 · R001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9B87F-CCB6-417D-A404-E94A4EFC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陈晨  →  大数据开发实习生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7EE87-E699-4B65-AC6F-83D33F0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江西云数科技 · 南昌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A4015-B155-4290-93A4-8F32F10D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52625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6E365-D775-49E2-8642-702EC377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综合匹配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A4751-5359-4123-A8F4-8C5D8E1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67.4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BA33A-D715-4481-B28D-B8924557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1752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50430-7ECC-4B40-B9E7-F4270590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02464-486A-4DF7-B402-10D097AE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60.0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76D05-8BB9-4E39-AE74-9E57466B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24225"/>
            <a:ext cx="1752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DC1F2-9706-4ACD-8396-623E910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TF-IDF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44F08-59FF-4ADE-92E7-216A828E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15.5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501EB-650D-42B3-AF11-3AC8B0C2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24225"/>
            <a:ext cx="1752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E2C9E-3404-4578-B244-8867EC6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671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Word2Vec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3E96F-7701-4483-94C9-F241F6D2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528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75.3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36197-31F0-44E5-A700-091D0BB2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24225"/>
            <a:ext cx="1752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D5844-5903-47B7-944F-C7EF65D5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硬条件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9D477-8A8D-4207-84E7-10F8246B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07B96-C07B-4ACE-BB7B-C936C003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rPr>
              <a:t>命中技能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336C0-B7C5-4DA1-977E-0EF980FF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76750"/>
            <a:ext cx="857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8F2"/>
          </a:solidFill>
          <a:ln xmlns:a="http://schemas.openxmlformats.org/drawingml/2006/main" w="9525">
            <a:solidFill>
              <a:srgbClr val="B7E7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5F82C-B862-4F4D-8634-FCFB3F6C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862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rPr>
              <a:t>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A75C5-8B96-47AC-BCF7-49641114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857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8F2"/>
          </a:solidFill>
          <a:ln xmlns:a="http://schemas.openxmlformats.org/drawingml/2006/main" w="9525">
            <a:solidFill>
              <a:srgbClr val="B7E7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C6AF0-CD47-4177-A3E8-788568E9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862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rPr>
              <a:t>Spark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8B5BD-A2FE-4C2D-8979-81625305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76750"/>
            <a:ext cx="857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8F2"/>
          </a:solidFill>
          <a:ln xmlns:a="http://schemas.openxmlformats.org/drawingml/2006/main" w="9525">
            <a:solidFill>
              <a:srgbClr val="B7E7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F39546-7C4A-4E9E-922C-A789A09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862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866D"/>
                </a:solidFill>
                <a:latin typeface="Arial Unicode MS"/>
                <a:ea typeface="Arial Unicode MS"/>
                <a:cs typeface="Arial Unicode MS"/>
              </a:rPr>
              <a:t>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D0D07-2794-4D4D-B813-D2389869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053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待提升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530B0C-F5D6-4AE3-B976-951B7588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933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0D2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5469BB-5698-4062-AC36-7FE64DC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8627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Hadoop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6A8ABF-7BD4-4BE8-BB68-0B34F96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76750"/>
            <a:ext cx="933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0D29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821150-A09E-4B71-A2AE-D39D166F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8627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Hive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65748-8E2E-4F01-9683-FAC92BF5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210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0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17C1F8-38BE-4C9B-BAE3-D46A4E90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推荐理由：学历、经验与城市均满足；语义经历部分相关；证书符合偏好。建议补充 Hadoop 与 Hive。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E4F9CE-8C18-46A7-9369-0F6B0252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解释与各维度数值同时输出，避免只给一个无法复核的总分。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718DD4-56BB-4375-8E89-A8F9BA70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29692B-5EBC-49BE-85AC-AB5DD82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3F3AAF-5AF7-4CF0-AD18-E915C4A0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627595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89C09D-B3BB-4B0C-A921-4793B464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07 / 大数据链路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BB9C3-1F4A-414A-8EE0-61CC5018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HDFS 分层存储，PySpark 清洗并回写结果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F1526-BAFE-4334-B327-E334489A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34A49-3294-4B65-ADF2-71F3ECDE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D4B6A-06A7-4D7D-AF9E-54A747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/resume_matching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86D33-4999-41CD-BFFD-7969FA4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6BE49-82B0-477F-8B55-ED9BAEFC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05025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CD0FA-8410-4B65-A057-AAEBE858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raw_data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46BA4-B96A-46A7-998D-172E9BC2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resumes.csv · jobs.csv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A3944-9823-4A5D-AD95-E499A7D5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FFC6E-011B-4EDC-9C35-6679D59A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CC50A-590D-4B67-8ECF-89E0B4B4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cleaned_data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AA5F2-3E50-4CB5-945E-782BC5C6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resumes · jobs · word2vec_features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1C14C-890C-4464-A221-AC6105F0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94FE4-1457-4D02-BD5E-2B6DBA4A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14775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CC476-FF1A-4B85-BCBF-04C9AC76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results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3D749-7F6C-4D50-A8E6-01EDD252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4825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132A4E"/>
                </a:solidFill>
                <a:latin typeface="Arial Unicode MS"/>
                <a:ea typeface="Arial Unicode MS"/>
                <a:cs typeface="Arial Unicode MS"/>
              </a:rPr>
              <a:t>full · top_matches · top_candidates ·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66FD5-1D0B-4A8D-AD0D-11AD8ED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38300"/>
            <a:ext cx="57912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d1cafb9454680"/>
          <a:stretch xmlns:a="http://schemas.openxmlformats.org/drawingml/2006/main"/>
        </p:blipFill>
        <p:spPr>
          <a:xfrm xmlns:a="http://schemas.openxmlformats.org/drawingml/2006/main">
            <a:off x="5798820" y="1676400"/>
            <a:ext cx="5699760" cy="3562350"/>
          </a:xfrm>
          <a:prstGeom xmlns:a="http://schemas.openxmlformats.org/drawingml/2006/main" prst="roundRect">
            <a:avLst>
              <a:gd name="adj" fmla="val 3209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E9F4D-6F32-4E6E-95A6-8C7369DE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PySpark：读取 → 去重/补齐 → match_text → MLlib Word2Vec → CSV/Parquet 回写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ADA7E-2001-49C4-86A6-6BA50A85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924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8BD7A-AB01-4DB6-819D-862DA73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NameNode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D69AF-1549-4CA3-8210-E3D136A8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905500"/>
            <a:ext cx="1924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FA33F-6C5A-452B-9DE3-5FCFFC42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9150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DataNode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AB1B2-89C8-4525-899F-239E575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05500"/>
            <a:ext cx="1924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36B48-E338-43A9-A044-00750D83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150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SecondaryNameNode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01E2B-0311-4B4D-B323-170D4CF2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905500"/>
            <a:ext cx="1924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7CFE1B-AE69-40F9-9BEC-9DDD5D7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9150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ResourceManager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02CF7-9532-4303-A1CE-9627C5A8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05500"/>
            <a:ext cx="1924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CE9C49-CEF7-4A22-BA0E-94476FF4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150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NodeManager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257434-D23C-4450-9598-53033830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40122E-61EE-4E2A-80DD-C273C848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1455E-2AB3-4C25-8FFC-998731C1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544637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8F925-39B7-4B0B-8563-1F30ED2A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08 / 交互产品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737DD-81E8-4845-AA47-846709F8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同一界面覆盖学生、招聘方与移动端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F196D-E42A-4DB0-93A5-10C484FF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9A60C-7582-40EA-97B6-9EDB1474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D7379-7515-4219-8072-FC4B2C8C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678180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f09e5b14e474d"/>
          <a:srcRect xmlns:a="http://schemas.openxmlformats.org/drawingml/2006/main" l="0" t="2136" r="0" b="2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47825"/>
            <a:ext cx="670560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9E83C-4FBC-4289-94D4-1958748F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9725"/>
            <a:ext cx="3829050" cy="248602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868ddc67545d5"/>
          <a:srcRect xmlns:a="http://schemas.openxmlformats.org/drawingml/2006/main" l="0" t="3766" r="0" b="3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3350" y="1647825"/>
            <a:ext cx="3752850" cy="2409825"/>
          </a:xfrm>
          <a:prstGeom xmlns:a="http://schemas.openxmlformats.org/drawingml/2006/main" prst="roundRect">
            <a:avLst>
              <a:gd name="adj" fmla="val 474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06138-F884-42C0-8296-961DF00A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57675"/>
            <a:ext cx="1504950" cy="1885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be197119a4b78"/>
          <a:srcRect xmlns:a="http://schemas.openxmlformats.org/drawingml/2006/main" l="0" t="20735" r="0" b="20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4295775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D14A2-A20E-4C7A-B9AF-4008107E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95775"/>
            <a:ext cx="1714500" cy="1809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34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B2E0E-853D-42F0-B0F3-3B18E45D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95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AFC5E7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407F8-BB50-49C3-920E-E2CCDDD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76800"/>
            <a:ext cx="140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5100" indent="-76200" algn="l">
              <a:lnSpc>
                <a:spcPct val="112000"/>
              </a:lnSpc>
              <a:spcAft>
                <a:spcPts val="500"/>
              </a:spcAft>
              <a:buNone/>
              <a:def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双向视角</a:t>
            </a:r>
          </a:p>
          <a:p xmlns:a="http://schemas.openxmlformats.org/drawingml/2006/main">
            <a:pPr marL="165100" indent="-76200" algn="l">
              <a:lnSpc>
                <a:spcPct val="112000"/>
              </a:lnSpc>
              <a:spcAft>
                <a:spcPts val="500"/>
              </a:spcAft>
              <a:buNone/>
              <a:def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Top N / 城市筛选</a:t>
            </a:r>
          </a:p>
          <a:p xmlns:a="http://schemas.openxmlformats.org/drawingml/2006/main">
            <a:pPr marL="165100" indent="-76200" algn="l">
              <a:lnSpc>
                <a:spcPct val="112000"/>
              </a:lnSpc>
              <a:spcAft>
                <a:spcPts val="500"/>
              </a:spcAft>
              <a:buNone/>
              <a:def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CSV 上传与下载</a:t>
            </a:r>
          </a:p>
          <a:p xmlns:a="http://schemas.openxmlformats.org/drawingml/2006/main">
            <a:pPr marL="165100" indent="-76200" algn="l">
              <a:lnSpc>
                <a:spcPct val="112000"/>
              </a:lnSpc>
              <a:spcAft>
                <a:spcPts val="500"/>
              </a:spcAft>
              <a:buNone/>
              <a:def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移动端自适应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78FE8-AF1E-40BA-99EC-57341FCE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61E08-4DE7-4BA1-8D38-7E1ECFFB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4D1CB-D39E-4399-A133-6B151A05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007865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78DEE-9664-4932-BFF3-81FC8628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09 / 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FF365-9553-436F-9223-FDB0BDFD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12 名学生均获得方向一致的 Top 1 推荐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F58F6-74AA-47EA-ADB4-FDF95B3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32D8F-38D4-4C04-8308-8B17F1D3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7667625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29bae964434c4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DE99A-E34F-45C0-BA71-165741E8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33550"/>
            <a:ext cx="2590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3AFA4-A72F-4558-AE82-71CE4D63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764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Top 1 平均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F9A1E-4904-442A-98AA-454122E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80.82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41E14-3ED6-4B23-8B0B-67C59F4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590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C4197-74AD-4E95-A57B-3721024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最高 / 最低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3D6FD-DD57-48FC-BFA1-CCF5223C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813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90.56 / 67.40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3963F-AD93-4905-BB09-243F5AD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590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78099-73E4-4DB9-A4A2-34C48D50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技能分 ≥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F09FD-7ACB-4435-A99C-02A87172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005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8717"/>
                </a:solidFill>
                <a:latin typeface="Arial Unicode MS"/>
                <a:ea typeface="Arial Unicode MS"/>
                <a:cs typeface="Arial Unicode MS"/>
              </a:rPr>
              <a:t>21 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7EB41-86AF-418E-9967-39A61508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10200"/>
            <a:ext cx="2590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D8B9F-C867-4481-94C3-9517D2C3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43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全量配对均值 42.83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12 个 Top 1 的学历/经验/城市均为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81A43-5396-4A35-BFCE-D6B07D96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9B319-6A92-4706-9031-DD6755EE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2B633-2FAA-422D-9CAB-EB81D086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411687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164E8-2B86-4BA6-8B8F-4EE9E5C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563EB"/>
                </a:solidFill>
                <a:latin typeface="Arial Unicode MS"/>
                <a:ea typeface="Arial Unicode MS"/>
                <a:cs typeface="Arial Unicode MS"/>
              </a:rPr>
              <a:t>10 / 验证与验收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47397-CE60-4C15-8788-9DD1E6A0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代码、服务、界面与文档均有可复核证据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A45F3-2FBD-44A2-8710-EAFF6C7F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DC454-A896-42AC-BC98-8D9EA25A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5151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4324350"/>
              </a:tblGrid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验证项</a:t>
                      </a:r>
                    </a:p>
                  </a:txBody>
                  <a:tcPr marL="91440" marR="91440" marT="45720" marB="45720" anchor="ctr">
                    <a:solidFill>
                      <a:srgbClr val="123562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实测结果</a:t>
                      </a:r>
                    </a:p>
                  </a:txBody>
                  <a:tcPr marL="91440" marR="91440" marT="45720" marB="45720" anchor="ctr">
                    <a:solidFill>
                      <a:srgbClr val="123562"/>
                    </a:solidFill>
                  </a:tcPr>
                </a:tc>
              </a:tr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Docker 镜像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构建成功，课程依赖可用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Hadoop / YARN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 个核心服务进程正常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</a:tr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day2 单元测试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 / 7 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day2-3 单元测试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 / 4 通过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</a:tr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四个教学案例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35 / 35 通过（含 PySpark）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HDFS / Spark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上传、清洗、MLlib、回写成功</a:t>
                      </a:r>
                    </a:p>
                  </a:txBody>
                  <a:tcPr marL="91440" marR="91440" marT="45720" marB="45720" anchor="ctr">
                    <a:solidFill>
                      <a:srgbClr val="F5F7FB"/>
                    </a:solidFill>
                  </a:tcPr>
                </a:tc>
              </a:tr>
              <a:tr h="500063"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Streamlit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32A4E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双向视图、筛选、下载、移动端通过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5D641-FB31-4E40-9DBE-F541A6E0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14500"/>
            <a:ext cx="39814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f02c5b1044cc8"/>
          <a:stretch xmlns:a="http://schemas.openxmlformats.org/drawingml/2006/main"/>
        </p:blipFill>
        <p:spPr>
          <a:xfrm xmlns:a="http://schemas.openxmlformats.org/drawingml/2006/main">
            <a:off x="7600950" y="1770459"/>
            <a:ext cx="3905250" cy="2440781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FA34-6493-460A-825C-8718EA60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05325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DF2CF-F748-461D-A3BA-9AA09A03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Spark 作业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28C1C-46FE-4F27-BFFD-3F1A8D1D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F9D8A"/>
                </a:solidFill>
                <a:latin typeface="Arial Unicode MS"/>
                <a:ea typeface="Arial Unicode MS"/>
                <a:cs typeface="Arial Unicode MS"/>
              </a:rPr>
              <a:t>3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B4439-7992-4522-AC01-B8476996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05325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3061A-71C6-4509-A96E-026149BD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482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浏览器控制台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F6441-85BB-4D9F-BB84-29BF978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339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D4ED8"/>
                </a:solidFill>
                <a:latin typeface="Arial Unicode MS"/>
                <a:ea typeface="Arial Unicode MS"/>
                <a:cs typeface="Arial Unicode MS"/>
              </a:rPr>
              <a:t>0 error / warn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DC9D9-6044-4B80-B10D-BA214E2D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72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0B2345"/>
                </a:solidFill>
                <a:latin typeface="Arial Unicode MS"/>
                <a:ea typeface="Arial Unicode MS"/>
                <a:cs typeface="Arial Unicode MS"/>
              </a:rPr>
              <a:t>结果来自同一台本地机器与同一镜像，不依赖外部云服务。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F91F7-DB39-4C86-97F4-B37C2A00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5E455-451A-4F9F-813F-1E907933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AI 人岗智能匹配 · 课程项目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2B97D-65FB-41F7-A7E6-872FC14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581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66758C"/>
                </a:solidFill>
                <a:latin typeface="Arial Unicode MS"/>
                <a:ea typeface="Arial Unicode MS"/>
                <a:cs typeface="Arial Unicode MS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8400933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F07990-3F3D-4652-8A98-88E4A072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37F4F-AA65-4E49-8FC1-9FB4EBA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CFDDF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CFDDF2"/>
                </a:solidFill>
                <a:latin typeface="Arial Unicode MS"/>
                <a:ea typeface="Arial Unicode MS"/>
                <a:cs typeface="Arial Unicode MS"/>
              </a:rPr>
              <a:t>系统已具备从数据到推荐、从本地到 HDFS、从总分到解释的完整闭环。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58E95-E4B3-41E6-96E0-2AB995B9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257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123562"/>
          </a:solidFill>
          <a:ln xmlns:a="http://schemas.openxmlformats.org/drawingml/2006/main" w="9525">
            <a:solidFill>
              <a:srgbClr val="2D52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4D6F-99D5-455E-AE6C-91B56D72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D2B35-50C7-4774-940E-4A9B9830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19B3-5C3D-451A-B09E-F0FBFA28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5475F-F7B5-472F-9ECF-74F2C503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Docker 内一键生成 144 组评分并写回 HDFS。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B139F-D061-4154-AD16-1BF5CC82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3257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123562"/>
          </a:solidFill>
          <a:ln xmlns:a="http://schemas.openxmlformats.org/drawingml/2006/main" w="9525">
            <a:solidFill>
              <a:srgbClr val="2D52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11B45-8883-4457-8015-E1C04C56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8F8A2-3230-43ED-90F0-F1C58E4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859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20D12-8FCC-4D11-BFC0-FFF2213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EECA-1C49-4C1E-8F18-55ADB502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关键词、语义与规则三类证据同时输出。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8ED02-0FBB-4E89-9DFB-407E8700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3257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123562"/>
          </a:solidFill>
          <a:ln xmlns:a="http://schemas.openxmlformats.org/drawingml/2006/main" w="9525">
            <a:solidFill>
              <a:srgbClr val="2D52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0FCEE-1710-4B03-B494-BA540523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514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717"/>
          </a:solidFill>
          <a:ln xmlns:a="http://schemas.openxmlformats.org/drawingml/2006/main" w="9525">
            <a:solidFill>
              <a:srgbClr val="D987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A39EB-4CC8-43FE-A26A-C4590C38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3ED64-4390-4367-9CE2-318C4440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CD089-42D2-4746-8C73-EBCC077C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双向界面、结果 CSV、报告、PPT 与截图齐全。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0909C-67DF-4165-87AF-7EE809CF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可执行改进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BC2F8-BF7D-4540-9959-2992AF1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E30FD-A614-49BE-A187-C92B6C8A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19B7C-E30C-4731-A2FA-37C78D24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收集脱敏且经授权的真实样本与人工相关性标签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A49E4-9E4C-4BC2-AB04-6776EA8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9DC68-F4D6-4424-BA05-2BB5138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65605-8311-4E16-8216-437D58CF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4342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引入 NDCG、Recall@K 与人工一致率评估双向排序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13A5A-D149-4EBD-A0E5-84ADB95D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C4BA52-C4B7-490F-A28B-B6C3303A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6251C-0786-4841-B34D-FEBA0852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6732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把技能等级、证书、城市与薪资权重改为可配置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F17B5B-5B78-4EC7-835F-0E61D2B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48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85F91-8E83-4684-ACB4-0E0890B8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35372-CFE1-4B92-8658-6603CF23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6732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7E4F7"/>
                </a:solidFill>
                <a:latin typeface="Arial Unicode MS"/>
                <a:ea typeface="Arial Unicode MS"/>
                <a:cs typeface="Arial Unicode MS"/>
              </a:rPr>
              <a:t>增加访问控制、数据脱敏、模型版本与审计日志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B0754-E3DB-4D65-81E9-AC18F6C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27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F697A9-8480-4FD7-9CA8-9A9B1E51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9FB5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9FB5D7"/>
                </a:solidFill>
                <a:latin typeface="Arial Unicode MS"/>
                <a:ea typeface="Arial Unicode MS"/>
                <a:cs typeface="Arial Unicode MS"/>
              </a:rPr>
              <a:t>完整源码与复现说明：day2/resume_matching_project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F8187-1921-49A0-AEC3-FC865ED0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674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9FB5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FB5D7"/>
                </a:solidFill>
                <a:latin typeface="Arial Unicode MS"/>
                <a:ea typeface="Arial Unicode MS"/>
                <a:cs typeface="Arial Unicode MS"/>
              </a:rPr>
              <a:t>12 / 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AE666-EC35-436E-8C9D-715EBA6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47395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2026-09-08T02:13:22.6010000Z</dcterms:created>
  <dcterms:modified xsi:type="dcterms:W3CDTF">2026-09-08T02:13:22.6010000Z</dcterms:modified>
</coreProperties>
</file>